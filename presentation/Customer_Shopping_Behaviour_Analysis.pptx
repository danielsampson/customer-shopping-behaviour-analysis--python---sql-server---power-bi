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60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091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22B42"/>
          </a:solidFill>
          <a:ln w="12700">
            <a:solidFill>
              <a:srgbClr val="122B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12801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280160"/>
            <a:ext cx="640080" cy="7315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77240"/>
            <a:ext cx="2286000" cy="25603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END-TO-END ANALYTICS PROJECT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Customer Shopping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Behaviour Analysis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1097280" cy="548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9067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0B4CC"/>
                </a:solidFill>
              </a:rPr>
              <a:t>Uncovering spending patterns, customer segments &amp; subscription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0B4CC"/>
                </a:solidFill>
              </a:rPr>
              <a:t>behaviour to guide strategic retail decisions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13632"/>
            <a:ext cx="1508760" cy="27432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13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21408" y="3913632"/>
            <a:ext cx="15087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3913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SQL Server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85616" y="3913632"/>
            <a:ext cx="1508760" cy="274320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3913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9824" y="3913632"/>
            <a:ext cx="1508760" cy="27432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3913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14032" y="3913632"/>
            <a:ext cx="150876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3913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PowerPoint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370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A94"/>
                </a:solidFill>
              </a:rPr>
              <a:t>Daniel Sampson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2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What We'll Cover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72768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572768"/>
            <a:ext cx="50292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727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91C1C"/>
                </a:solidFill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16184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Business Problem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828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What challenge are we solving?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112264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112264"/>
            <a:ext cx="50292" cy="47548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1226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7A5E"/>
                </a:solidFill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21579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Dataset Overview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3682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3,900 customers · 18 features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51760"/>
            <a:ext cx="50292" cy="47548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517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973A"/>
                </a:solidFill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2697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Project Pipeline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29077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End-to-end workflow diagram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191256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191256"/>
            <a:ext cx="50292" cy="47548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9125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7A5E"/>
                </a:solidFill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" y="3236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Python — EDA &amp; Cleaning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34472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Data preparation pipeline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730752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730752"/>
            <a:ext cx="50292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7307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137"/>
                </a:solidFill>
              </a:rPr>
              <a:t>05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5840" y="3776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SQL Analysis — Q1 to Q5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5840" y="3986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Revenue · Discounts · Ratings · Shipping · Subs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270248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270248"/>
            <a:ext cx="50292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702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137"/>
                </a:solidFill>
              </a:rPr>
              <a:t>06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05840" y="43159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SQL Analysis — Q6 to Q10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" y="45262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Segmentation · Products · Age Revenue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92040" y="1572768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1572768"/>
            <a:ext cx="50292" cy="475488"/>
          </a:xfrm>
          <a:prstGeom prst="rect">
            <a:avLst/>
          </a:prstGeom>
          <a:solidFill>
            <a:srgbClr val="145F49"/>
          </a:solidFill>
          <a:ln w="12700">
            <a:solidFill>
              <a:srgbClr val="145F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15727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5F49"/>
                </a:solidFill>
              </a:rPr>
              <a:t>07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440680" y="16184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SQL Query Showcase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1828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CTE &amp; Window Function deep dive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92040" y="2112264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92040" y="2112264"/>
            <a:ext cx="50292" cy="475488"/>
          </a:xfrm>
          <a:prstGeom prst="rect">
            <a:avLst/>
          </a:prstGeom>
          <a:solidFill>
            <a:srgbClr val="145F49"/>
          </a:solidFill>
          <a:ln w="12700">
            <a:solidFill>
              <a:srgbClr val="145F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211226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5F49"/>
                </a:solidFill>
              </a:rPr>
              <a:t>08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440680" y="21579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Power BI — Overview Page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40680" y="23682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KPI Cards · Charts · Slicers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92040" y="2651760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92040" y="2651760"/>
            <a:ext cx="50292" cy="475488"/>
          </a:xfrm>
          <a:prstGeom prst="rect">
            <a:avLst/>
          </a:prstGeom>
          <a:solidFill>
            <a:srgbClr val="145F49"/>
          </a:solidFill>
          <a:ln w="12700">
            <a:solidFill>
              <a:srgbClr val="145F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26517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5F49"/>
                </a:solidFill>
              </a:rPr>
              <a:t>09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440680" y="2697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Power BI — Insights Page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40680" y="29077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Revenue · Season · Gender · Frequency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92040" y="3191256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92040" y="3191256"/>
            <a:ext cx="50292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83480" y="319125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5440680" y="3236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40680" y="34472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9 critical insights from the data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92040" y="3730752"/>
            <a:ext cx="42062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92040" y="3730752"/>
            <a:ext cx="50292" cy="47548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83480" y="37307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7A5E"/>
                </a:solidFill>
              </a:rPr>
              <a:t>11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5440680" y="3776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440680" y="3986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7 actionable business strategies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3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PROBLEM STATEMENT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The Business Challenge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What questions needed answering?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72768"/>
            <a:ext cx="3931920" cy="3090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72768"/>
            <a:ext cx="393192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664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Situation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029968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0B4CC"/>
                </a:solidFill>
              </a:rPr>
              <a:t>A retail business had 3,900 customer transaction records but lacked the analytical depth to act on them strategically.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0B4CC"/>
                </a:solidFill>
              </a:rPr>
              <a:t>Key challenges included a critically low 27% subscription rate, an unexplained zero-female-subscriber anomaly, unclear seasonal revenue patterns, and a discount strategy with no measurable ROI.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1572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137"/>
                </a:solidFill>
              </a:rPr>
              <a:t>Key Business Questions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075688"/>
            <a:ext cx="182880" cy="182880"/>
          </a:xfrm>
          <a:prstGeom prst="line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9659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137"/>
                </a:solidFill>
              </a:rPr>
              <a:t>Which categories &amp; seasons drive the most revenue?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514600"/>
            <a:ext cx="4114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70048"/>
            <a:ext cx="182880" cy="182880"/>
          </a:xfrm>
          <a:prstGeom prst="lin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5603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137"/>
                </a:solidFill>
              </a:rPr>
              <a:t>Why is the subscription rate only 27%?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114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264408"/>
            <a:ext cx="182880" cy="182880"/>
          </a:xfrm>
          <a:prstGeom prst="lin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3154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137"/>
                </a:solidFill>
              </a:rPr>
              <a:t>How does behaviour differ by gender &amp; age group?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703320"/>
            <a:ext cx="4114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858768"/>
            <a:ext cx="182880" cy="182880"/>
          </a:xfrm>
          <a:prstGeom prst="lin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7490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137"/>
                </a:solidFill>
              </a:rPr>
              <a:t>Which customer segments have the highest CLV?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4297680"/>
            <a:ext cx="4114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453128"/>
            <a:ext cx="182880" cy="182880"/>
          </a:xfrm>
          <a:prstGeom prst="line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4343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137"/>
                </a:solidFill>
              </a:rPr>
              <a:t>Which products are most discount-dependent?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4892040"/>
            <a:ext cx="4114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5047488"/>
            <a:ext cx="182880" cy="182880"/>
          </a:xfrm>
          <a:prstGeom prst="lin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49377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2137"/>
                </a:solidFill>
              </a:rPr>
              <a:t>Are repeat buyers more likely to subscribe?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4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DATASET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Dataset Overview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3,900 retail customer transactions · 18 features · 4 product categories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72768"/>
            <a:ext cx="1920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72768"/>
            <a:ext cx="1920240" cy="4572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64208"/>
            <a:ext cx="1920240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5E"/>
                </a:solidFill>
              </a:rPr>
              <a:t>3,900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092513"/>
            <a:ext cx="1920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Customer Records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271735"/>
            <a:ext cx="192024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Active transactions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0" y="1572768"/>
            <a:ext cx="1920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1572768"/>
            <a:ext cx="1920240" cy="45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664208"/>
            <a:ext cx="1920240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137"/>
                </a:solidFill>
              </a:rPr>
              <a:t>18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60320" y="2092513"/>
            <a:ext cx="1920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Feature Columns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0" y="2271735"/>
            <a:ext cx="192024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Across 3 groups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572768"/>
            <a:ext cx="1920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572768"/>
            <a:ext cx="1920240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64208"/>
            <a:ext cx="1920240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</a:rPr>
              <a:t>37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63440" y="2092513"/>
            <a:ext cx="1920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Missing Values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2271735"/>
            <a:ext cx="192024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 review_rating only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66560" y="1572768"/>
            <a:ext cx="1920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572768"/>
            <a:ext cx="1920240" cy="457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664208"/>
            <a:ext cx="1920240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73A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66560" y="2092513"/>
            <a:ext cx="19202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Product Categories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0" y="2271735"/>
            <a:ext cx="192024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Clothing · Footwear · Accessories · Outerwear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2137"/>
                </a:solidFill>
              </a:rPr>
              <a:t>Feature Breakdown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2944368"/>
            <a:ext cx="8321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944368"/>
            <a:ext cx="50292" cy="402336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29443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Customer Demographics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17520" y="294436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Age · Gender · Location · Subscription Status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401568"/>
            <a:ext cx="8321040" cy="402336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401568"/>
            <a:ext cx="50292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4015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Purchase Details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17520" y="340156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Item Purchased · Category · Amount (£) · Season · Size · Color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858768"/>
            <a:ext cx="8321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858768"/>
            <a:ext cx="50292" cy="402336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38587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Shopping Behaviour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017520" y="385876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Discount Applied · Previous Purchases · Frequency · Review Rating · Shipping Type · Payment Method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315968"/>
            <a:ext cx="8321040" cy="402336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315968"/>
            <a:ext cx="50292" cy="402336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43159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</a:rPr>
              <a:t>Engineered Features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017520" y="431596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age_group (quartile-binned via pd.qcut) · purchase_frequency_days (mapped to numeric days)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5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PROJECT PIPELINE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End-to-End Analytics Pipeline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Raw CSV  →  Python  →  SQL Server  →  Power BI  →  Power BI Service  →  PowerPoint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508760"/>
            <a:ext cx="8412480" cy="30906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4645152"/>
            <a:ext cx="8321040" cy="201168"/>
          </a:xfrm>
          <a:prstGeom prst="rect">
            <a:avLst/>
          </a:prstGeom>
          <a:solidFill>
            <a:srgbClr val="E8F5F1"/>
          </a:solidFill>
          <a:ln w="6350">
            <a:solidFill>
              <a:srgbClr val="1A7A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64515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5F49"/>
                </a:solidFill>
              </a:rPr>
              <a:t>📌  Pipeline also includes Power BI Service (cloud publishing) for sharing and collaboration.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6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PYTHON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Data Preparation in Python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Cleaning · EDA · Feature Engineering · SQL Server Integration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72768"/>
            <a:ext cx="4206240" cy="9326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72768"/>
            <a:ext cx="42062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23060"/>
            <a:ext cx="420624" cy="882396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23060"/>
            <a:ext cx="420624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A5E"/>
                </a:solidFill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664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Data Loading &amp; Exploration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19568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pd.read_csv() → df.info() → df.describe(include='all') → df.isnull().sum()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1572768"/>
            <a:ext cx="4206240" cy="9326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572768"/>
            <a:ext cx="4206240" cy="502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623060"/>
            <a:ext cx="420624" cy="882396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23060"/>
            <a:ext cx="420624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1664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Missing Value Imputation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19568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37 nulls in review_rating → filled with median per category using groupby().transform()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642616"/>
            <a:ext cx="4206240" cy="9326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642616"/>
            <a:ext cx="4206240" cy="502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692908"/>
            <a:ext cx="420624" cy="882396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92908"/>
            <a:ext cx="420624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27340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Column Standardisation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0266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All columns → snake_case · purchase_amount_(usd) renamed · consistent across Python, SQL &amp; Power BI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2642616"/>
            <a:ext cx="4206240" cy="9326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642616"/>
            <a:ext cx="420624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692908"/>
            <a:ext cx="420624" cy="882396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92908"/>
            <a:ext cx="420624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73A"/>
                </a:solidFill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27340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Redundancy Check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49240" y="30266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discount_applied == promo_code_used for 100% of rows → promo_code_used safely dropped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712464"/>
            <a:ext cx="4206240" cy="9326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712464"/>
            <a:ext cx="42062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762756"/>
            <a:ext cx="420624" cy="882396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762756"/>
            <a:ext cx="420624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A5E"/>
                </a:solidFill>
              </a:rPr>
              <a:t>05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0120" y="38039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Feature Engineering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0120" y="40965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age_group via pd.qcut(q=4, labels=['Young Adult','Adult','Middle Aged','Senior'])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3712464"/>
            <a:ext cx="4206240" cy="9326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3712464"/>
            <a:ext cx="4206240" cy="50292"/>
          </a:xfrm>
          <a:prstGeom prst="rect">
            <a:avLst/>
          </a:prstGeom>
          <a:solidFill>
            <a:srgbClr val="145F49"/>
          </a:solidFill>
          <a:ln w="12700">
            <a:solidFill>
              <a:srgbClr val="145F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3762756"/>
            <a:ext cx="420624" cy="882396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762756"/>
            <a:ext cx="420624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5F49"/>
                </a:solidFill>
              </a:rPr>
              <a:t>06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49240" y="38039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SQL Server Load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49240" y="40965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SQLAlchemy + pyodbc → engine → df.to_sql('customer_data', if_exists='replace') → Customer_Behaviour DB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7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SQL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SQL Business Questions — Part 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Q1–Q5: Revenue · High-Spend Discounts · Product Ratings · Shipping · Subscriptions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72768"/>
            <a:ext cx="2697480" cy="12618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72768"/>
            <a:ext cx="2697480" cy="4572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645920"/>
            <a:ext cx="329184" cy="32918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50976" y="1645920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137"/>
                </a:solidFill>
              </a:rPr>
              <a:t>Revenue by Gender</a:t>
            </a:r>
            <a:endParaRPr lang="en-US" sz="9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029968"/>
            <a:ext cx="2514600" cy="457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273552" y="1572768"/>
            <a:ext cx="2697480" cy="2587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73552" y="1572768"/>
            <a:ext cx="2697480" cy="45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64992" y="1645920"/>
            <a:ext cx="329184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64992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767328" y="1645920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137"/>
                </a:solidFill>
              </a:rPr>
              <a:t>High-Spend Discount Users</a:t>
            </a:r>
            <a:endParaRPr lang="en-US" sz="9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64992" y="2029968"/>
            <a:ext cx="2514600" cy="178308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080760" y="1572768"/>
            <a:ext cx="2743200" cy="149047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80760" y="1572768"/>
            <a:ext cx="2743200" cy="457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1645920"/>
            <a:ext cx="329184" cy="32918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7220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574536" y="164592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137"/>
                </a:solidFill>
              </a:rPr>
              <a:t>Top 5 Products by Rating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2029968"/>
            <a:ext cx="2560320" cy="6858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57200" y="3383280"/>
            <a:ext cx="4206240" cy="13075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57200" y="3383280"/>
            <a:ext cx="4206240" cy="4572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48640" y="3456432"/>
            <a:ext cx="329184" cy="32918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4864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Q4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950976" y="3456432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137"/>
                </a:solidFill>
              </a:rPr>
              <a:t>Shipping Type Comparison</a:t>
            </a:r>
            <a:endParaRPr lang="en-US" sz="9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8640" y="3840480"/>
            <a:ext cx="4023360" cy="50292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800600" y="3383280"/>
            <a:ext cx="4069080" cy="135331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800600" y="3383280"/>
            <a:ext cx="4069080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892040" y="3456432"/>
            <a:ext cx="329184" cy="3291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89204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Q5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5294376" y="3456432"/>
            <a:ext cx="3465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137"/>
                </a:solidFill>
              </a:rPr>
              <a:t>Subscribers vs Non-Subscribers</a:t>
            </a:r>
            <a:endParaRPr lang="en-US" sz="9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2040" y="3840480"/>
            <a:ext cx="38862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8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SQL 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SQL Business Questions — Part 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Q6–Q10: Discount Dependency · Segmentation · Top Products · Repeat Buyers · Age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72768"/>
            <a:ext cx="2743200" cy="151790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72768"/>
            <a:ext cx="2743200" cy="457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645920"/>
            <a:ext cx="329184" cy="32918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50976" y="164592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137"/>
                </a:solidFill>
              </a:rPr>
              <a:t>Discount-Dependent Products</a:t>
            </a:r>
            <a:endParaRPr lang="en-US" sz="9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029968"/>
            <a:ext cx="2560320" cy="71323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337560" y="1572768"/>
            <a:ext cx="2743200" cy="1444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37560" y="1572768"/>
            <a:ext cx="2743200" cy="4572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29000" y="1645920"/>
            <a:ext cx="329184" cy="32918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2900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Q7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31336" y="164592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137"/>
                </a:solidFill>
              </a:rPr>
              <a:t>Customer Segmentation (CTE)</a:t>
            </a:r>
            <a:endParaRPr lang="en-US" sz="9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29000" y="2029968"/>
            <a:ext cx="2560320" cy="64008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236208" y="1572768"/>
            <a:ext cx="2633472" cy="22219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36208" y="1572768"/>
            <a:ext cx="2633472" cy="45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27648" y="1645920"/>
            <a:ext cx="329184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27648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Q8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729984" y="164592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137"/>
                </a:solidFill>
              </a:rPr>
              <a:t>Top 3 Products per Category (Window Fn)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27648" y="2029968"/>
            <a:ext cx="2450592" cy="141732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57200" y="3337560"/>
            <a:ext cx="4206240" cy="135331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57200" y="3337560"/>
            <a:ext cx="4206240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48640" y="3410712"/>
            <a:ext cx="329184" cy="3291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4864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Q9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950976" y="3410712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137"/>
                </a:solidFill>
              </a:rPr>
              <a:t>Repeat Buyers &amp; Subscriptions</a:t>
            </a:r>
            <a:endParaRPr lang="en-US" sz="9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8640" y="3794760"/>
            <a:ext cx="4023360" cy="54864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800600" y="3337560"/>
            <a:ext cx="4069080" cy="1554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800600" y="3337560"/>
            <a:ext cx="4069080" cy="4572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892040" y="3410712"/>
            <a:ext cx="329184" cy="32918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89204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Q10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5294376" y="3410712"/>
            <a:ext cx="3465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137"/>
                </a:solidFill>
              </a:rPr>
              <a:t>Revenue by Age Group</a:t>
            </a:r>
            <a:endParaRPr lang="en-US" sz="9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2040" y="3794760"/>
            <a:ext cx="3886200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9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145F49"/>
          </a:solidFill>
          <a:ln w="12700">
            <a:solidFill>
              <a:srgbClr val="145F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SQL DEEP DIVE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Query Showcase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CTE · Window Functions · Subqueries — the most advanced queries in the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72768"/>
            <a:ext cx="4206240" cy="3200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45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973A"/>
                </a:solidFill>
              </a:rPr>
              <a:t>Q7 — Customer Segmentation (CTE)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1956816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segment_data AS 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previous_purchases,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WHEN previous_purchases &lt;= 1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THEN 'New'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WHEN previous_purchases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BETWEEN 2 AND 10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THEN 'Returning'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 'Loyal'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AS customer_segment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customer_data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customer_segment,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COUNT(customer_id) AS total_customers,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SUM(previous_purchases) AS total_prev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segment_data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customer_segment;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931920" cy="3200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973A"/>
                </a:solidFill>
              </a:rPr>
              <a:t>Q8 — Top 3 per Category (Window Function)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56048" y="1956816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item_count AS 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item_purchased,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COUNT(customer_id)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total_orders,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ROW_NUMBER() OVER(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PARTITION BY category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COUNT(customer_id) DESC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item_rank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customer_data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item_purchased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item_rank, category,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item_purchased,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total_orders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item_count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item_rank &lt;= 3;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10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145F49"/>
          </a:solidFill>
          <a:ln w="12700">
            <a:solidFill>
              <a:srgbClr val="145F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POWER BI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Dashboard — Page 1: Overview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KPI Cards · Subscription Status · Revenue by Category · Revenue &amp; Sales by Age Group · Slicers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36192"/>
            <a:ext cx="8321040" cy="31546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4654296"/>
            <a:ext cx="2651760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1A7A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654296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7A5E"/>
                </a:solidFill>
              </a:rPr>
              <a:t>3.9K customers · £59.76 avg · 3.75 rating · 27% subscription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246120" y="4654296"/>
            <a:ext cx="2651760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4654296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91C1C"/>
                </a:solidFill>
              </a:rPr>
              <a:t>⚠ 73% churn risk flagged directly on KPI card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035040" y="4654296"/>
            <a:ext cx="2651760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0D21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4654296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137"/>
                </a:solidFill>
              </a:rPr>
              <a:t>Slicers: Subscription · Gender · Category · Shipping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11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145F49"/>
          </a:solidFill>
          <a:ln w="12700">
            <a:solidFill>
              <a:srgbClr val="145F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POWER BI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Dashboard — Page 2: Customer &amp; Sales Insights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Revenue by Season · Payment Method · Shipping Type · Category by Gender · Purchase Frequency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36192"/>
            <a:ext cx="8321040" cy="31546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4654296"/>
            <a:ext cx="2651760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145F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654296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45F49"/>
                </a:solidFill>
              </a:rPr>
              <a:t>£233K total revenue · Fall top season · £1.5K avg CLV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246120" y="4654296"/>
            <a:ext cx="2651760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4654296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91C1C"/>
                </a:solidFill>
              </a:rPr>
              <a:t>0% female subscribers — flagged as critical KPI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035040" y="4654296"/>
            <a:ext cx="2651760" cy="192024"/>
          </a:xfrm>
          <a:prstGeom prst="rect">
            <a:avLst/>
          </a:prstGeom>
          <a:solidFill>
            <a:srgbClr val="FFFFFF"/>
          </a:solidFill>
          <a:ln w="7620">
            <a:solidFill>
              <a:srgbClr val="0D21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4654296"/>
            <a:ext cx="2651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137"/>
                </a:solidFill>
              </a:rPr>
              <a:t>Page navigation: Overview ↔ Customer &amp; Sales buttons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12 / 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8973A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the Data Revealed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91440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44752" y="1143000"/>
            <a:ext cx="36576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2743200" cy="1097280"/>
          </a:xfrm>
          <a:prstGeom prst="rect">
            <a:avLst/>
          </a:prstGeom>
          <a:solidFill>
            <a:srgbClr val="0F2A40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25880"/>
            <a:ext cx="2743200" cy="502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91C1C"/>
                </a:solidFill>
              </a:rPr>
              <a:t>🔴  73%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1819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Unsubscribed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0391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C2"/>
                </a:solidFill>
              </a:rPr>
              <a:t>2,847 of 3,900 customers never converted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55848" y="1325880"/>
            <a:ext cx="2743200" cy="1097280"/>
          </a:xfrm>
          <a:prstGeom prst="rect">
            <a:avLst/>
          </a:prstGeom>
          <a:solidFill>
            <a:srgbClr val="0F2A40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325880"/>
            <a:ext cx="27432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973A"/>
                </a:solidFill>
              </a:rPr>
              <a:t>⚠️  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93008" y="1819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Female Subscriptions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93008" y="20391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C2"/>
                </a:solidFill>
              </a:rPr>
              <a:t>No female customer subscribed — critical blind spot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54496" y="1325880"/>
            <a:ext cx="2743200" cy="1097280"/>
          </a:xfrm>
          <a:prstGeom prst="rect">
            <a:avLst/>
          </a:prstGeom>
          <a:solidFill>
            <a:srgbClr val="0F2A40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1325880"/>
            <a:ext cx="274320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7A5E"/>
                </a:solidFill>
              </a:rPr>
              <a:t>🏆  80%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91656" y="1819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Loyal Customers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91656" y="20391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C2"/>
                </a:solidFill>
              </a:rPr>
              <a:t>3,116 have 10+ previous purchases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2743200" cy="1097280"/>
          </a:xfrm>
          <a:prstGeom prst="rect">
            <a:avLst/>
          </a:prstGeom>
          <a:solidFill>
            <a:srgbClr val="0F2A40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560320"/>
            <a:ext cx="27432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973A"/>
                </a:solidFill>
              </a:rPr>
              <a:t>💰  45%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4360" y="30540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Clothing Revenue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C2"/>
                </a:solidFill>
              </a:rPr>
              <a:t>£104K of £233K total — single category dominates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55848" y="2560320"/>
            <a:ext cx="2743200" cy="1097280"/>
          </a:xfrm>
          <a:prstGeom prst="rect">
            <a:avLst/>
          </a:prstGeom>
          <a:solidFill>
            <a:srgbClr val="0F2A40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2560320"/>
            <a:ext cx="2743200" cy="502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91C1C"/>
                </a:solidFill>
              </a:rPr>
              <a:t>🔁  72%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493008" y="30540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Repeat Non-Subscribers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93008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C2"/>
                </a:solidFill>
              </a:rPr>
              <a:t>Even loyal buyers avoid the subscription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54496" y="2560320"/>
            <a:ext cx="2743200" cy="1097280"/>
          </a:xfrm>
          <a:prstGeom prst="rect">
            <a:avLst/>
          </a:prstGeom>
          <a:solidFill>
            <a:srgbClr val="0F2A40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54496" y="2560320"/>
            <a:ext cx="274320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7A5E"/>
                </a:solidFill>
              </a:rPr>
              <a:t>📦  £2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391656" y="30540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Express Premium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91656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C2"/>
                </a:solidFill>
              </a:rPr>
              <a:t>Express users spend £2 more per transaction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3794760"/>
            <a:ext cx="2743200" cy="1097280"/>
          </a:xfrm>
          <a:prstGeom prst="rect">
            <a:avLst/>
          </a:prstGeom>
          <a:solidFill>
            <a:srgbClr val="0F2A40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794760"/>
            <a:ext cx="27432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973A"/>
                </a:solidFill>
              </a:rPr>
              <a:t>🎯  839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94360" y="42885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High-Value Discount Users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" y="4507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C2"/>
                </a:solidFill>
              </a:rPr>
              <a:t>Spent above average even while discounting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55848" y="3794760"/>
            <a:ext cx="2743200" cy="1097280"/>
          </a:xfrm>
          <a:prstGeom prst="rect">
            <a:avLst/>
          </a:prstGeom>
          <a:solidFill>
            <a:srgbClr val="0F2A40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55848" y="3794760"/>
            <a:ext cx="2743200" cy="502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93008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91C1C"/>
                </a:solidFill>
              </a:rPr>
              <a:t>🏷️  50%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3493008" y="42885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Hat Discount Rate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493008" y="4507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C2"/>
                </a:solidFill>
              </a:rPr>
              <a:t>Highest discount dependency — margin risk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54496" y="3794760"/>
            <a:ext cx="2743200" cy="1097280"/>
          </a:xfrm>
          <a:prstGeom prst="rect">
            <a:avLst/>
          </a:prstGeom>
          <a:solidFill>
            <a:srgbClr val="0F2A40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54496" y="3794760"/>
            <a:ext cx="274320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91656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7A5E"/>
                </a:solidFill>
              </a:rPr>
              <a:t>👥  £62K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391656" y="42885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Young Adult Revenue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91656" y="4507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C2"/>
                </a:solidFill>
              </a:rPr>
              <a:t>Leads all age groups — top segment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B4C8"/>
                </a:solidFill>
              </a:rPr>
              <a:t>Customer Shopping Behaviour Analysis  ·  Daniel Sampson  · 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920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13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RECOMMENDATIONS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2137"/>
                </a:solidFill>
              </a:rPr>
              <a:t>7 Actionable Business Strategies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Data-backed recommendations for immediate business impact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" cy="5029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371600"/>
            <a:ext cx="228600" cy="502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72768"/>
            <a:ext cx="4206240" cy="7040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72768"/>
            <a:ext cx="50292" cy="7040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" y="1572768"/>
            <a:ext cx="420624" cy="704088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" y="1572768"/>
            <a:ext cx="4206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1636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137"/>
                </a:solidFill>
              </a:rPr>
              <a:t>Fix the Subscription Programme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19019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</a:rPr>
              <a:t>Add exclusive benefits — early access, free shipping, personalised discounts. Target 2,847 unsubscribed customers.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368296"/>
            <a:ext cx="4206240" cy="7040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368296"/>
            <a:ext cx="50292" cy="70408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" y="2368296"/>
            <a:ext cx="420624" cy="704088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" y="2368296"/>
            <a:ext cx="4206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73A"/>
                </a:solidFill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4323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137"/>
                </a:solidFill>
              </a:rPr>
              <a:t>Address the Female Subscription Gap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" y="26974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</a:rPr>
              <a:t>Zero female subscribers signals a product-market alignment failure. Launch a gender-targeted subscription trial.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163824"/>
            <a:ext cx="4206240" cy="7040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163824"/>
            <a:ext cx="50292" cy="70408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" y="3163824"/>
            <a:ext cx="420624" cy="704088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" y="3163824"/>
            <a:ext cx="4206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5E"/>
                </a:solidFill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2278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137"/>
                </a:solidFill>
              </a:rPr>
              <a:t>Convert Returning → Loyal (701 customers)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05840" y="34930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</a:rPr>
              <a:t>Milestone rewards after the 5th purchase. Structured loyalty ladder to move Returning into Loyal status.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959352"/>
            <a:ext cx="4206240" cy="7040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59352"/>
            <a:ext cx="50292" cy="7040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7492" y="3959352"/>
            <a:ext cx="420624" cy="704088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" y="3959352"/>
            <a:ext cx="4206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4023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137"/>
                </a:solidFill>
              </a:rPr>
              <a:t>Maximise Fall &amp; Spring Campaigns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05840" y="42885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</a:rPr>
              <a:t>Concentrate product launches in Fall (£60K) and Spring — the two highest revenue seasons.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64608" y="1572768"/>
            <a:ext cx="4005072" cy="7040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64608" y="1572768"/>
            <a:ext cx="50292" cy="70408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4900" y="1572768"/>
            <a:ext cx="420624" cy="704088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4900" y="1572768"/>
            <a:ext cx="4206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73A"/>
                </a:solidFill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13248" y="163677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137"/>
                </a:solidFill>
              </a:rPr>
              <a:t>Re-evaluate Discount Strategy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13248" y="190195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</a:rPr>
              <a:t>Hat (50%), Sneakers (49.7%), Coat (49.1%) are discount-dependent. Reposition or bundle instead of eroding margins.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64608" y="2368296"/>
            <a:ext cx="4005072" cy="7040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2368296"/>
            <a:ext cx="50292" cy="70408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14900" y="2368296"/>
            <a:ext cx="420624" cy="704088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4900" y="2368296"/>
            <a:ext cx="4206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5E"/>
                </a:solidFill>
              </a:rPr>
              <a:t>06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13248" y="243230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137"/>
                </a:solidFill>
              </a:rPr>
              <a:t>Create Premium Tier for 839 High-Value Users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13248" y="269748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</a:rPr>
              <a:t>Spent above average even with discounts — move into premium loyalty tier with high-value personalised offers.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64608" y="3163824"/>
            <a:ext cx="4005072" cy="7040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64608" y="3163824"/>
            <a:ext cx="50292" cy="7040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14900" y="3163824"/>
            <a:ext cx="420624" cy="704088"/>
          </a:xfrm>
          <a:prstGeom prst="rect">
            <a:avLst/>
          </a:prstGeom>
          <a:solidFill>
            <a:srgbClr val="F7F9F8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4900" y="3163824"/>
            <a:ext cx="4206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</a:rPr>
              <a:t>07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13248" y="32278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137"/>
                </a:solidFill>
              </a:rPr>
              <a:t>Target Express Shipping Users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13248" y="3493008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</a:rPr>
              <a:t>Express users spend £2 more per transaction — upsell premium product lines and bundles to this segment.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4" name="Text 52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A0B4C8"/>
                </a:solidFill>
              </a:rPr>
              <a:t>Thank you for viewing  ·  Daniel Sampson  ·  github.com/DanielSampson  ·  linkedin.com/in/daniel-sampson-35b4b4366/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1514</Words>
  <Application>Microsoft Office PowerPoint</Application>
  <PresentationFormat>On-screen Show (16:9)</PresentationFormat>
  <Paragraphs>285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Behaviour Analysis</dc:title>
  <dc:subject>PptxGenJS Presentation</dc:subject>
  <dc:creator>Daniel Sampson</dc:creator>
  <cp:lastModifiedBy>Daniel Sampson</cp:lastModifiedBy>
  <cp:revision>3</cp:revision>
  <dcterms:created xsi:type="dcterms:W3CDTF">2026-06-02T22:15:15Z</dcterms:created>
  <dcterms:modified xsi:type="dcterms:W3CDTF">2026-06-02T23:28:52Z</dcterms:modified>
</cp:coreProperties>
</file>